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8755fea564dbf" /><Relationship Type="http://schemas.openxmlformats.org/officeDocument/2006/relationships/extended-properties" Target="/docProps/app.xml" Id="R6312a7c35bfc4d1a" /><Relationship Type="http://schemas.openxmlformats.org/officeDocument/2006/relationships/officeDocument" Target="/ppt/presentation.xml" Id="R5cb7fd48fbd7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7d1467be9f4535"/>
  </p:sldMasterIdLst>
  <p:notesMasterIdLst>
    <p:notesMasterId xmlns:r="http://schemas.openxmlformats.org/officeDocument/2006/relationships" r:id="R4fa6432ee9e84baa"/>
  </p:notesMasterIdLst>
  <p:sldIdLst>
    <p:sldId xmlns:r="http://schemas.openxmlformats.org/officeDocument/2006/relationships" id="256" r:id="Rc2c6fecece3f413d"/>
    <p:sldId xmlns:r="http://schemas.openxmlformats.org/officeDocument/2006/relationships" id="257" r:id="R3b1fdcd8929946fd"/>
    <p:sldId xmlns:r="http://schemas.openxmlformats.org/officeDocument/2006/relationships" id="258" r:id="R6046ed70b214495c"/>
    <p:sldId xmlns:r="http://schemas.openxmlformats.org/officeDocument/2006/relationships" id="259" r:id="R7b53d8ea0b2842ce"/>
    <p:sldId xmlns:r="http://schemas.openxmlformats.org/officeDocument/2006/relationships" id="260" r:id="R8cfdafc78ac748e8"/>
    <p:sldId xmlns:r="http://schemas.openxmlformats.org/officeDocument/2006/relationships" id="261" r:id="R52e18f561d8f4719"/>
    <p:sldId xmlns:r="http://schemas.openxmlformats.org/officeDocument/2006/relationships" id="262" r:id="R77c46546a03f4278"/>
    <p:sldId xmlns:r="http://schemas.openxmlformats.org/officeDocument/2006/relationships" id="263" r:id="R92bcb1557a1949f6"/>
    <p:sldId xmlns:r="http://schemas.openxmlformats.org/officeDocument/2006/relationships" id="264" r:id="R0317d384d3124b0d"/>
    <p:sldId xmlns:r="http://schemas.openxmlformats.org/officeDocument/2006/relationships" id="265" r:id="R127e29a6fc804983"/>
    <p:sldId xmlns:r="http://schemas.openxmlformats.org/officeDocument/2006/relationships" id="266" r:id="R7ca99c287490450b"/>
    <p:sldId xmlns:r="http://schemas.openxmlformats.org/officeDocument/2006/relationships" id="267" r:id="Re23367ae19d44e02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362b849b4d43e2" /><Relationship Type="http://schemas.openxmlformats.org/officeDocument/2006/relationships/slideMaster" Target="/ppt/slideMasters/slideMaster1.xml" Id="R2a7d1467be9f4535" /><Relationship Type="http://schemas.openxmlformats.org/officeDocument/2006/relationships/notesMaster" Target="/ppt/notesMasters/notesMaster1.xml" Id="R4fa6432ee9e84baa" /><Relationship Type="http://schemas.openxmlformats.org/officeDocument/2006/relationships/presProps" Target="/ppt/presProps.xml" Id="R14f91d05761743a6" /><Relationship Type="http://schemas.openxmlformats.org/officeDocument/2006/relationships/viewProps" Target="/ppt/viewProps.xml" Id="R9d3947e53e2244d4" /><Relationship Type="http://schemas.openxmlformats.org/officeDocument/2006/relationships/tableStyles" Target="/ppt/tableStyles.xml" Id="R02c6b39752e74e61" /><Relationship Type="http://schemas.openxmlformats.org/officeDocument/2006/relationships/slide" Target="/ppt/slides/slide1.xml" Id="Rc2c6fecece3f413d" /><Relationship Type="http://schemas.openxmlformats.org/officeDocument/2006/relationships/slide" Target="/ppt/slides/slide2.xml" Id="R3b1fdcd8929946fd" /><Relationship Type="http://schemas.openxmlformats.org/officeDocument/2006/relationships/slide" Target="/ppt/slides/slide3.xml" Id="R6046ed70b214495c" /><Relationship Type="http://schemas.openxmlformats.org/officeDocument/2006/relationships/slide" Target="/ppt/slides/slide4.xml" Id="R7b53d8ea0b2842ce" /><Relationship Type="http://schemas.openxmlformats.org/officeDocument/2006/relationships/slide" Target="/ppt/slides/slide5.xml" Id="R8cfdafc78ac748e8" /><Relationship Type="http://schemas.openxmlformats.org/officeDocument/2006/relationships/slide" Target="/ppt/slides/slide6.xml" Id="R52e18f561d8f4719" /><Relationship Type="http://schemas.openxmlformats.org/officeDocument/2006/relationships/slide" Target="/ppt/slides/slide7.xml" Id="R77c46546a03f4278" /><Relationship Type="http://schemas.openxmlformats.org/officeDocument/2006/relationships/slide" Target="/ppt/slides/slide8.xml" Id="R92bcb1557a1949f6" /><Relationship Type="http://schemas.openxmlformats.org/officeDocument/2006/relationships/slide" Target="/ppt/slides/slide9.xml" Id="R0317d384d3124b0d" /><Relationship Type="http://schemas.openxmlformats.org/officeDocument/2006/relationships/slide" Target="/ppt/slides/slide10.xml" Id="R127e29a6fc804983" /><Relationship Type="http://schemas.openxmlformats.org/officeDocument/2006/relationships/slide" Target="/ppt/slides/slide11.xml" Id="R7ca99c287490450b" /><Relationship Type="http://schemas.openxmlformats.org/officeDocument/2006/relationships/slide" Target="/ppt/slides/slide12.xml" Id="Re23367ae19d44e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eac6c30a7e4b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051ffe43634fea" /><Relationship Type="http://schemas.openxmlformats.org/officeDocument/2006/relationships/notesMaster" Target="/ppt/notesMasters/notesMaster1.xml" Id="R64d7106b9bf546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5e7c68c3c4884" /><Relationship Type="http://schemas.openxmlformats.org/officeDocument/2006/relationships/notesMaster" Target="/ppt/notesMasters/notesMaster1.xml" Id="R6a7d0d6d8688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65c0fc89d6441e" /><Relationship Type="http://schemas.openxmlformats.org/officeDocument/2006/relationships/notesMaster" Target="/ppt/notesMasters/notesMaster1.xml" Id="R2bd6fc0283fc4e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dbca7179054ae7" /><Relationship Type="http://schemas.openxmlformats.org/officeDocument/2006/relationships/notesMaster" Target="/ppt/notesMasters/notesMaster1.xml" Id="Rbdd86d5e363f43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468828266f40a9" /><Relationship Type="http://schemas.openxmlformats.org/officeDocument/2006/relationships/notesMaster" Target="/ppt/notesMasters/notesMaster1.xml" Id="R575837ce407040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11744558046b6" /><Relationship Type="http://schemas.openxmlformats.org/officeDocument/2006/relationships/notesMaster" Target="/ppt/notesMasters/notesMaster1.xml" Id="R7a2805c759c54c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52623996404a73" /><Relationship Type="http://schemas.openxmlformats.org/officeDocument/2006/relationships/notesMaster" Target="/ppt/notesMasters/notesMaster1.xml" Id="Re36709ee5813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dcc06450b847b7" /><Relationship Type="http://schemas.openxmlformats.org/officeDocument/2006/relationships/notesMaster" Target="/ppt/notesMasters/notesMaster1.xml" Id="Rcc5376823e76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783224b0b84ce1" /><Relationship Type="http://schemas.openxmlformats.org/officeDocument/2006/relationships/notesMaster" Target="/ppt/notesMasters/notesMaster1.xml" Id="R50688b0ae6ee48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5cec9b04554b47" /><Relationship Type="http://schemas.openxmlformats.org/officeDocument/2006/relationships/notesMaster" Target="/ppt/notesMasters/notesMaster1.xml" Id="R57cce6fe2da240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17d30bdb8b4b3a" /><Relationship Type="http://schemas.openxmlformats.org/officeDocument/2006/relationships/notesMaster" Target="/ppt/notesMasters/notesMaster1.xml" Id="R02d6cd99b73d4a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d3255337f34d15" /><Relationship Type="http://schemas.openxmlformats.org/officeDocument/2006/relationships/notesMaster" Target="/ppt/notesMasters/notesMaster1.xml" Id="R3aa369829e51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b2590c1574c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7c806710343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eb7ef43714c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1169fbc9445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0a7c2585342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69edbf0a042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ad34738584c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0064f5f63468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08451962c451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880dde68246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07a9a3797486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1B8C53-3269-4072-828C-27A10BD30E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1EF1675-9B23-4F89-8977-30D674C9D9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C1BAE6-72CA-4944-9182-1176FFE35E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E24D67-4A19-4EE7-BC28-523DC22C73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F466D8-507A-4B98-A71D-B70B3C7AC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E3AF5B-FA2B-418D-B924-D1D7AD3BB5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A6A6A3-A842-4D60-A457-17CCD6CDAE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97F946-4A21-46D8-8E21-5A5F00D4F9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8E1865C-D6CA-4F4A-8346-CD691BC450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766294-D2D8-4440-9188-223BF4B9F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7206CF-ECC6-4D6A-AB4F-7D9EF6CE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B10FC9-C9C6-4FA0-9A3A-D58F4DEC4F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87F302-4D5A-41E3-9C69-99DB3341F3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7C4BE6-FDCC-4E1B-8C1D-15BD5C81CD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C88E36-E832-486E-B4BC-8F071E6B39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8EEC99-75FF-46B4-9DA2-DDE59C08E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FEF76B-358C-450B-B9D4-4C9A6653A0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37E34F8-4F5D-416B-915C-01F2EAAF99E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18E0A1-7D3A-4E76-A97B-CE00817E97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B5D1AD-2621-4F1F-9348-0006B738B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6B78513-A080-44EC-81A1-432934F291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476569-52CB-4BB5-BB85-99F2CE0BD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099A0A-0FFE-48EB-AC8B-7CF58B7AA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257018-D19F-4543-8F42-8EC3EAA6FB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13E6ABD-AED1-4C86-8108-029AD0BC0B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91C3EF5-A4E7-44D2-B9E5-728C0A00CD4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6E62852-B2BE-4A8E-BF37-50B2234B3C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03BA4AB-3B34-4B64-B8D2-AA30D73FE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0471DAF-C0C6-449C-AFEC-9B5784E096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21F60A-D16A-40ED-84A6-661859A9D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D206B5F-F6F0-458D-B6FF-5974FC166A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A8FAF18-3548-41B6-9D23-62A6A606EE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AF830A7-34C8-49FC-AABE-56ED0BF57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067B9B6-5315-44A9-98B0-80F3A82C99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B63FAA3-23BA-49C6-9ED8-8011C7EECA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2229B9-479F-4B46-AF73-7DAA96A02C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33A040-AA29-4F81-9B60-7494B974C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E0203C-51EA-4CC9-937F-AF3CB095445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AAE5C26-A51A-4B2F-8524-D087631C2C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260C0FD-865A-480E-89F5-3C3BE9223D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E6AA40-76D8-44CE-BF95-8C4CC73825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900D77-D4F1-4CAD-8789-D3FFEAF72D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FCAEAE-6F09-4009-8E87-17395A3A5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E68EEBD-34BD-4BA5-BE57-9E01FC7CFD9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1F45E01-3373-4AB3-8F6F-D4AB6F4713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A9DBC3-9CFD-4E5E-A3F2-9A44458486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A01D2-AD91-4FA8-AE62-4688CB96F9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08BA0-F70C-49A1-B11C-5CC1DCE23B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01CBD-1AE9-481A-A53E-42AB37DB3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0A70C5-EF1C-4D5A-89D5-ECCE5AE8D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3D6D96-BB42-4D5E-9CD3-C63F1D1B61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B5FABB-EFB9-4CFA-9ED7-3389181D61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9D9F1C-43BC-49ED-B787-CD30EE0101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5407509-45CC-4A04-B73A-9FB7B060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A6B1EC-A697-483B-9AB3-0AC688C2A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B8FCFB-2D28-4F7A-B73E-CF1A0E6217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A5E84D-7F46-43A5-98BE-7A60B1684C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27881A-0E03-4BA2-A0E5-9C5CED55D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28e6bc09f41b4" /><Relationship Type="http://schemas.openxmlformats.org/officeDocument/2006/relationships/slideLayout" Target="/ppt/slideLayouts/slideLayout1.xml" Id="R53f5cb1a149d4725" /><Relationship Type="http://schemas.openxmlformats.org/officeDocument/2006/relationships/slideLayout" Target="/ppt/slideLayouts/slideLayout2.xml" Id="Re3a808b0d4fe407b" /><Relationship Type="http://schemas.openxmlformats.org/officeDocument/2006/relationships/slideLayout" Target="/ppt/slideLayouts/slideLayout3.xml" Id="R2ec7ebde05ef455b" /><Relationship Type="http://schemas.openxmlformats.org/officeDocument/2006/relationships/slideLayout" Target="/ppt/slideLayouts/slideLayout4.xml" Id="R4c813160b05a4924" /><Relationship Type="http://schemas.openxmlformats.org/officeDocument/2006/relationships/slideLayout" Target="/ppt/slideLayouts/slideLayout5.xml" Id="R1f0784a831064cb3" /><Relationship Type="http://schemas.openxmlformats.org/officeDocument/2006/relationships/slideLayout" Target="/ppt/slideLayouts/slideLayout6.xml" Id="Rf7ac0a4665404199" /><Relationship Type="http://schemas.openxmlformats.org/officeDocument/2006/relationships/slideLayout" Target="/ppt/slideLayouts/slideLayout7.xml" Id="R7ebc204c9c6a4aca" /><Relationship Type="http://schemas.openxmlformats.org/officeDocument/2006/relationships/slideLayout" Target="/ppt/slideLayouts/slideLayout8.xml" Id="Rde7dfcbc59ec4de9" /><Relationship Type="http://schemas.openxmlformats.org/officeDocument/2006/relationships/slideLayout" Target="/ppt/slideLayouts/slideLayout9.xml" Id="R474dec20c50c4df2" /><Relationship Type="http://schemas.openxmlformats.org/officeDocument/2006/relationships/slideLayout" Target="/ppt/slideLayouts/slideLayout10.xml" Id="Rf3ded0eacffc40f0" /><Relationship Type="http://schemas.openxmlformats.org/officeDocument/2006/relationships/slideLayout" Target="/ppt/slideLayouts/slideLayout11.xml" Id="Rb1c067da0b6b4c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1AA4D33-3324-4F1B-BEC9-1AE79F6DE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21B50E-0C19-4A55-8146-A622F1DA9B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9178AC-F5CC-494A-AF6C-AADA2065A0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1B5FED-95AF-424E-A5A8-2FF716D01E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282E3A-2A74-49A0-B556-AF7D2C187B8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5cb1a149d4725"/>
    <p:sldLayoutId xmlns:r="http://schemas.openxmlformats.org/officeDocument/2006/relationships" id="2147483650" r:id="Re3a808b0d4fe407b"/>
    <p:sldLayoutId xmlns:r="http://schemas.openxmlformats.org/officeDocument/2006/relationships" id="2147483651" r:id="R2ec7ebde05ef455b"/>
    <p:sldLayoutId xmlns:r="http://schemas.openxmlformats.org/officeDocument/2006/relationships" id="2147483652" r:id="R4c813160b05a4924"/>
    <p:sldLayoutId xmlns:r="http://schemas.openxmlformats.org/officeDocument/2006/relationships" id="2147483653" r:id="R1f0784a831064cb3"/>
    <p:sldLayoutId xmlns:r="http://schemas.openxmlformats.org/officeDocument/2006/relationships" id="2147483654" r:id="Rf7ac0a4665404199"/>
    <p:sldLayoutId xmlns:r="http://schemas.openxmlformats.org/officeDocument/2006/relationships" id="2147483655" r:id="R7ebc204c9c6a4aca"/>
    <p:sldLayoutId xmlns:r="http://schemas.openxmlformats.org/officeDocument/2006/relationships" id="2147483656" r:id="Rde7dfcbc59ec4de9"/>
    <p:sldLayoutId xmlns:r="http://schemas.openxmlformats.org/officeDocument/2006/relationships" id="2147483657" r:id="R474dec20c50c4df2"/>
    <p:sldLayoutId xmlns:r="http://schemas.openxmlformats.org/officeDocument/2006/relationships" id="2147483658" r:id="Rf3ded0eacffc40f0"/>
    <p:sldLayoutId xmlns:r="http://schemas.openxmlformats.org/officeDocument/2006/relationships" id="2147483659" r:id="Rb1c067da0b6b4cd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5ff4fbecae46d0" /><Relationship Type="http://schemas.openxmlformats.org/officeDocument/2006/relationships/notesSlide" Target="/ppt/notesSlides/notesSlide1.xml" Id="Raae465c040a3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aaf8e6860846fc" /><Relationship Type="http://schemas.openxmlformats.org/officeDocument/2006/relationships/notesSlide" Target="/ppt/notesSlides/notesSlide2.xml" Id="Rbc479f4b5da240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d105ad964e4dc2" /><Relationship Type="http://schemas.openxmlformats.org/officeDocument/2006/relationships/notesSlide" Target="/ppt/notesSlides/notesSlide3.xml" Id="R5cf5aa4e927c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cb64e316794884" /><Relationship Type="http://schemas.openxmlformats.org/officeDocument/2006/relationships/notesSlide" Target="/ppt/notesSlides/notesSlide4.xml" Id="Rd5958a94db2f4b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dc05564d3743f5" /><Relationship Type="http://schemas.openxmlformats.org/officeDocument/2006/relationships/notesSlide" Target="/ppt/notesSlides/notesSlide5.xml" Id="Rddc36e0290c840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7179a2c21b4d72" /><Relationship Type="http://schemas.openxmlformats.org/officeDocument/2006/relationships/notesSlide" Target="/ppt/notesSlides/notesSlide6.xml" Id="R0f731481504240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104a725a274d57" /><Relationship Type="http://schemas.openxmlformats.org/officeDocument/2006/relationships/notesSlide" Target="/ppt/notesSlides/notesSlide7.xml" Id="Rb86b98a5b7f5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049087eaf24300" /><Relationship Type="http://schemas.openxmlformats.org/officeDocument/2006/relationships/notesSlide" Target="/ppt/notesSlides/notesSlide8.xml" Id="R8023d622f72a45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b74a5259be46d7" /><Relationship Type="http://schemas.openxmlformats.org/officeDocument/2006/relationships/notesSlide" Target="/ppt/notesSlides/notesSlide9.xml" Id="R093dca05b3e24b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de2c8ef9964d16" /><Relationship Type="http://schemas.openxmlformats.org/officeDocument/2006/relationships/notesSlide" Target="/ppt/notesSlides/notesSlide10.xml" Id="R94c402b823e24c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09670baf154dbd" /><Relationship Type="http://schemas.openxmlformats.org/officeDocument/2006/relationships/notesSlide" Target="/ppt/notesSlides/notesSlide11.xml" Id="R00336153211d42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54ce113a244f83" /><Relationship Type="http://schemas.openxmlformats.org/officeDocument/2006/relationships/notesSlide" Target="/ppt/notesSlides/notesSlide12.xml" Id="R4f92e4a32fce43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446504FE-7D7E-4430-BAC7-53239E9D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31520"/>
            <a:ext cx="2103120" cy="210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4E30F9E3-169F-4F02-AB37-3AAB775B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37744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80AF039-0EDB-42BE-9958-CF9B69C7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2608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CF969-2874-4619-9491-9095C72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795527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DELIVERY DRONE</a:t>
            </a:r>
            <a:br/>
            <a:r>
              <a:t>FLIGHT PLANNER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8B9ED7-43B0-43A2-A61C-01C39567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749807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Energy-efficient route planning using ADS algorithms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119B5BC-AF5A-4AAD-994E-41E6F75F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7955279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Academic Project  •  SDG 9: Industry, Innovation and Infrastructure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68A76F-540C-4F5D-8461-6BE63F8C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Python • Flask • HTML • CSS • JavaScript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9B53190-FA12-4BC0-BBA3-9353D7E2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Live demo: delivery-drone-flight-planner.onrender.com</a:t>
            </a:r>
          </a:p>
        </p:txBody>
      </p:sp>
    </p:spTree>
    <p:extLst>
      <p:ext uri="{BB962C8B-B14F-4D97-AF65-F5344CB8AC3E}">
        <p14:creationId xmlns:p14="http://schemas.microsoft.com/office/powerpoint/2010/main" val="1540318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5E84A9F-D0D4-4FBA-8713-D38C56FA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Problem Statement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74E284-46F8-4335-9AD7-0E37FB44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FC113C-5213-42EC-BBF6-E8E79A9C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Why route planning matters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55F67A-7372-4D03-A0B7-7894B571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48E056-1C49-4F93-A4B6-FBC648F8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9848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2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A delivery drone must visit multiple delivery locations and return to its depot.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2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Blocked cells represent no-fly zones that the route must avoid.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2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The order of visiting delivery points affects total route distance.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2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Battery usage must be estimated against a reserve-aware energy budget.</a:t>
            </a:r>
          </a:p>
        </p:txBody>
      </p:sp>
    </p:spTree>
    <p:extLst>
      <p:ext uri="{BB962C8B-B14F-4D97-AF65-F5344CB8AC3E}">
        <p14:creationId xmlns:p14="http://schemas.microsoft.com/office/powerpoint/2010/main" val="1043488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544C4AC-95E9-4F86-A8D2-401FD413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Project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2E54A8-6893-4767-8776-22576BC1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7FD1BF-A1B2-4569-A233-5E8B45C5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What the application demonstrates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DB6C9A9-665B-4806-A49A-77F720D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44D4030-0E75-467C-952C-30325F0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C0DC58E-314A-4E72-B933-E5AE00D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SAFE PATHFINDING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3894BE-D85F-48DC-AD98-F3B87D56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30632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Find paths through a grid while avoiding blocked cells.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F7867D2-62E8-4741-8E52-8109121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940A25A-6AC9-4A8B-9731-D851214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ROUTE PLANNING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FEB5C11-E0CA-40C7-A4BB-6E68B874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58568"/>
            <a:ext cx="30632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Compare an exact method with a faster heuristic.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AE43116-3D23-4B64-A0AE-4B7DA3C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F5E9DAD-C2A7-4656-906A-B7F9C9E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ENERGY ESTIMATION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F74824-2210-491D-BC52-8246742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8568"/>
            <a:ext cx="30632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Estimate energy and check a defined battery reserve.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BAA8612-6E21-416F-A410-C9094C1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65760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74A9DAD-0ACC-4848-B3DC-A943D22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t>VISUALIZATION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9D1C0F7-56C1-48AF-94B0-94BC809E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24528"/>
            <a:ext cx="30632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Show the grid, route, and drone simulation controls.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40A78877-800C-4C86-9228-C1344B0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34290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738EEA1-7ACD-40DA-B7E2-BEA920B2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4760"/>
            <a:ext cx="3063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LEARNING OUTCOME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55ACABF-358B-4254-B486-E9085A0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4528"/>
            <a:ext cx="306324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Apply ADS concepts to a practical routing scenario.</a:t>
            </a:r>
          </a:p>
        </p:txBody>
      </p:sp>
    </p:spTree>
    <p:extLst>
      <p:ext uri="{BB962C8B-B14F-4D97-AF65-F5344CB8AC3E}">
        <p14:creationId xmlns:p14="http://schemas.microsoft.com/office/powerpoint/2010/main" val="2097305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1047BC0-03B0-41B1-8D15-A61BC4AB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Application Features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6E6588-BCD1-4180-A15E-4D5E9E9F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266E1D-3F43-43C0-81EF-AE744D79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Interactive web interface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CB10CB2-44B5-457F-B9CB-4A5ED6C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5491ED-E1EC-4F83-A914-482BEBC8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9848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8 × 8 editable grid with depot, delivery points, and no-fly zones.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Select Held–Karp or Greedy for route planning.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BFS-based pathfinding between locations.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Display delivery order, total distance, and route details.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Compare algorithm results and animate the planned route.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Show estimated energy, battery used, remaining battery, and feasibility.</a:t>
            </a:r>
          </a:p>
        </p:txBody>
      </p:sp>
    </p:spTree>
    <p:extLst>
      <p:ext uri="{BB962C8B-B14F-4D97-AF65-F5344CB8AC3E}">
        <p14:creationId xmlns:p14="http://schemas.microsoft.com/office/powerpoint/2010/main" val="2000349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1D6AA2B-C253-4FFF-BFBC-6CE5C10A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System Architecture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AB504B-2E70-419C-A7C8-3E366476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64A68D-A2B8-40B1-8027-243159A9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From user input to route results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1CFE07-575F-4EA8-A95E-F630293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0836100-FC92-4536-8C75-5E0CECE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2768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8138284-9761-4430-A619-C27B5E2D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09928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1. USER INTERFACE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20B62E3-D295-4795-AE77-C41D0062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9696"/>
            <a:ext cx="96012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HTML • CSS • JavaScript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0B5B0C-4456-493E-8D2D-363B66AB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194560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6F4AD32-C3BF-4BFD-A694-C49C30F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2304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A1AE044-57CA-49BA-B5A9-B76B8BD6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69464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2. FLASK API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2770E92-6F4A-4C8E-BE68-6BEABE54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9232"/>
            <a:ext cx="96012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Receives grid, locations, and algorithm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4A32395-30C6-4762-8E09-F1CD9AE7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054096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7899759-9099-4E45-80E4-53D1CE00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39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3DC18D6-96E4-44FF-BCC3-C5C2128E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28999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3. BFS PATHFINDING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2A532D-5CEF-45D9-BAF3-CB4BD4B5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58768"/>
            <a:ext cx="96012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Builds safe paths and distances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2DFF3B5-CF58-4536-89F3-26E35910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913631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48D71C6-2DD2-4ABD-BF54-EA0291F9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1376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F440E8C-B99B-40D8-8926-E1792CA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88536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t>4. ROUTE PLANNER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DBCE204-9287-4449-B365-73FAB39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18304"/>
            <a:ext cx="96012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Held–Karp or Greedy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DAF3870-422C-4AF0-8B00-AD66CE6D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773168"/>
            <a:ext cx="457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↓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9ADDEBA-EF38-48BB-8524-FA5731D2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912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F9F487C-2A36-4C35-BB90-144AC250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48072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5. RESULTS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14964B1-709A-4CFB-9F34-4B625A2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577840"/>
            <a:ext cx="9601200" cy="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Route • distance • energy estimate</a:t>
            </a:r>
          </a:p>
        </p:txBody>
      </p:sp>
    </p:spTree>
    <p:extLst>
      <p:ext uri="{BB962C8B-B14F-4D97-AF65-F5344CB8AC3E}">
        <p14:creationId xmlns:p14="http://schemas.microsoft.com/office/powerpoint/2010/main" val="205807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D21E42A-B14A-4820-9406-4B57393B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Algorithm 1: Breadth-First Search (BFS)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E51E2E-7B46-4010-B760-1EA1D8C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F9D2AF3-BF20-4B4D-B2D3-0AF9F53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Safe shortest paths on an unweighted grid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DFBC35B-4C19-41EC-A1F6-9DD59FFD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213BD5A-0420-49E4-86E7-886C559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5120640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04C28F7-151E-4F8C-A89D-46F9A1B5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28800"/>
            <a:ext cx="47548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HOW IT WORKS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867660-9D35-4438-A0B5-B7D06815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58568"/>
            <a:ext cx="4754879" cy="2816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1. Start at the source cell.</a:t>
            </a:r>
            <a:br/>
            <a:r>
              <a:t>2. Explore cells using a queue.</a:t>
            </a:r>
            <a:br/>
            <a:r>
              <a:t>3. Visit valid, unvisited neighbors.</a:t>
            </a:r>
            <a:br/>
            <a:r>
              <a:t>4. Record predecessors to rebuild the path.</a:t>
            </a:r>
            <a:br/>
            <a:r>
              <a:t>5. Stop when the destination is reached.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A62712B-6BF9-4A1B-B3BA-519B8AEA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120640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233BAD-F773-4C53-B48A-1CDCF2F3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47548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WHY BFS?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A919A0-0A7E-4E3B-B55C-D77C320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58568"/>
            <a:ext cx="4754879" cy="2816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Finds a shortest path when every move has equal cost.</a:t>
            </a:r>
            <a:br/>
            <a:r>
              <a:t>• Avoids blocked grid cells.</a:t>
            </a:r>
            <a:br/>
            <a:r>
              <a:t>• Supplies path distances to the route planner.</a:t>
            </a:r>
            <a:br/>
            <a:br/>
            <a:r>
              <a:t>Time: O(V + E)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C2D826B-1BE3-4049-94F5-E4A33123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V = traversable cells; E = valid grid connections.</a:t>
            </a:r>
          </a:p>
        </p:txBody>
      </p:sp>
    </p:spTree>
    <p:extLst>
      <p:ext uri="{BB962C8B-B14F-4D97-AF65-F5344CB8AC3E}">
        <p14:creationId xmlns:p14="http://schemas.microsoft.com/office/powerpoint/2010/main" val="892457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EB6EDBE-80EB-4E2A-BF0B-3F8B7486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Algorithm 2: Route Optimization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E1DAD9D-B470-4E2D-9284-77CAEEC4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4545A1-CE49-4B20-81AD-6D770B3F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Exact solution versus practical heuristic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622ACD-A758-470B-9E77-C1EF738A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FC6C11C-2644-4F42-AA09-8C73856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530352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36D66-173D-47D9-8548-EF7C2F4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49377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HELD–KARP (DYNAMIC PROGRAMMING)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9CED5A1-E118-41D3-8642-31AE44A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4937759" cy="2999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Uses subsets / bitmasks of visited deliveries.</a:t>
            </a:r>
            <a:br/>
            <a:r>
              <a:t>• Reuses smaller subproblem solutions.</a:t>
            </a:r>
            <a:br/>
            <a:r>
              <a:t>• Finds an optimal visiting order for supported small instances.</a:t>
            </a:r>
            <a:br/>
            <a:r>
              <a:t>• Time: O(n² × 2ⁿ)</a:t>
            </a:r>
            <a:br/>
            <a:r>
              <a:t>• Space: O(n × 2ⁿ)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CB41C1A-4BCF-407D-9894-3675D0D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0352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6127625-5940-4E35-92BA-524DE371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49377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t>GREEDY NEAREST-NEIGHBOR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199A5A-162D-4323-B4FE-FB224983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8568"/>
            <a:ext cx="4937759" cy="2999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Chooses the nearest unvisited reachable delivery.</a:t>
            </a:r>
            <a:br/>
            <a:r>
              <a:t>• Usually faster for larger instances.</a:t>
            </a:r>
            <a:br/>
            <a:r>
              <a:t>• Does not guarantee a globally optimal tour.</a:t>
            </a:r>
            <a:br/>
            <a:r>
              <a:t>• Results depend on available route-distance information.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CD35C24-B7B1-4287-A6B9-525D0A9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The planner returns to the depot when a valid return path is available.</a:t>
            </a:r>
          </a:p>
        </p:txBody>
      </p:sp>
    </p:spTree>
    <p:extLst>
      <p:ext uri="{BB962C8B-B14F-4D97-AF65-F5344CB8AC3E}">
        <p14:creationId xmlns:p14="http://schemas.microsoft.com/office/powerpoint/2010/main" val="373735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06D2508-15D5-48E2-85B1-AFB50664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Energy &amp; Battery Estimation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AF6C1FC-22B2-4E23-8051-12EF7A5D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53CB56-C543-484E-8AE7-9DEAEB1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Explicit academic simulation assumptions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AAF32F-8897-4FD0-8A6B-A2B82CE2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E26FCB8-14FA-4EBD-AF38-4FC2531F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33832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EEC658C-D7A0-4FB2-A025-4CB1336F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ENERGY PER MOVE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547D2D-7D59-459F-8EDD-DBB6CEF1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30175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0.8 Wh / grid move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55DD431-A85E-4D6C-B92F-B8C7D076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3832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E3D37E-B075-4763-A16A-D87A333A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2880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BATTERY CAPACITY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9F4149-2DE3-4BD5-A8D6-97EEA6E8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58568"/>
            <a:ext cx="30175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100 Wh assumed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621AC2E-53E1-4790-9EAC-F0F8EC15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33832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276A07B-4F2C-42DB-AE51-9466FBD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RESERVE / USABLE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281DE5-2EF6-4880-92C5-20FA5011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8568"/>
            <a:ext cx="30175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20% reserve • 80 Wh usable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8A5BDD0-1912-4826-8F51-5CE5AF6F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20440"/>
            <a:ext cx="52120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3D2A06-C1C5-446D-95C2-0BB77CCF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FORMULA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439C81-945C-4FBE-BA24-3983B4B2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7368"/>
            <a:ext cx="484632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Estimated energy = total route distance × 0.8 Wh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BFCD578-ED3B-4AD4-AF13-70C5BFE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520440"/>
            <a:ext cx="521208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5DD344B-1DB7-45E2-9EC1-858D8975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FEASIBILITY RULE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E5D3F6D-9093-4C48-B9ED-1F9B2E59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87368"/>
            <a:ext cx="4846320" cy="850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Feasible in this model when estimated energy ≤ 80 Wh.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7A2D03D-CF33-4DB9-88E3-670F13B8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These are simplified simulation assumptions, not measured drone specifications. Actual energy depends on payload, wind, speed, hovering, battery condition, and other factors.</a:t>
            </a:r>
          </a:p>
        </p:txBody>
      </p:sp>
    </p:spTree>
    <p:extLst>
      <p:ext uri="{BB962C8B-B14F-4D97-AF65-F5344CB8AC3E}">
        <p14:creationId xmlns:p14="http://schemas.microsoft.com/office/powerpoint/2010/main" val="412251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B078BEF-AAA5-4E09-B515-2FE01057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How to Use the Application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612AC4-791C-4A30-B0E4-EF4E19BE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BF3F5E-01F3-4090-82E5-7820170C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Demonstration 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8120F03-6173-4F6E-AA0D-93B30BC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A20A9BE-3589-4286-9F9A-1DDC3E50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1069848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Choose an algorithm from the selection menu.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Set the depot and add delivery points on the grid.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Mark blocked cells as no-fly zones.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Click Plan Route to calculate and display the route.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Review route distance, delivery order, comparison, and energy estimate.</a:t>
            </a:r>
          </a:p>
          <a:p xmlns:a="http://schemas.openxmlformats.org/drawingml/2006/main">
            <a:pPr>
              <a:spcAft>
                <a:spcPts val="1400"/>
              </a:spcAft>
              <a:buNone/>
              <a:defRPr sz="200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 Use Start, Pause, and Replay to demonstrate the route animation.</a:t>
            </a:r>
          </a:p>
        </p:txBody>
      </p:sp>
    </p:spTree>
    <p:extLst>
      <p:ext uri="{BB962C8B-B14F-4D97-AF65-F5344CB8AC3E}">
        <p14:creationId xmlns:p14="http://schemas.microsoft.com/office/powerpoint/2010/main" val="8329202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52E96C-717F-4DD0-B6E2-A3B8E026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10CD8C-CA6A-455E-84BE-4A9A067D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48A458-6CFD-4656-9D2E-052D3DC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Scope for improvement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5EB659-6A66-4173-BD6E-B143B380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3A1237-6EE0-4292-BE5A-54A4F367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530352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586A75-F351-4B26-9B83-A482B7E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49377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EA580C"/>
                </a:solidFill>
                <a:latin typeface="Aptos"/>
                <a:ea typeface="Aptos"/>
                <a:cs typeface="Aptos"/>
              </a:defRPr>
            </a:pPr>
            <a:r>
              <a:t>CURRENT LIMITATIONS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EC8414-3A02-4351-850A-F19A521C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8568"/>
            <a:ext cx="4937759" cy="2999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Grid-based simulation, not real map coordinates.</a:t>
            </a:r>
            <a:br/>
            <a:r>
              <a:t>• Energy uses fixed constants.</a:t>
            </a:r>
            <a:br/>
            <a:r>
              <a:t>• Weather and payload effects are not modeled directly.</a:t>
            </a:r>
            <a:br/>
            <a:r>
              <a:t>• Held–Karp scales exponentially.</a:t>
            </a:r>
            <a:br/>
            <a:r>
              <a:t>• Greedy may not produce an optimal route.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C6B0F4-0F9C-486F-9717-DB3A61D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0352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5F23E3-248F-4651-B070-E0704328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49377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FUTURE WORK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2354869-D533-400C-AF07-C5B5FD4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58568"/>
            <a:ext cx="4937759" cy="2999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• Integrate real map and coordinate data.</a:t>
            </a:r>
            <a:br/>
            <a:r>
              <a:t>• Model payload- and speed-dependent energy.</a:t>
            </a:r>
            <a:br/>
            <a:r>
              <a:t>• Include weather and wind inputs.</a:t>
            </a:r>
            <a:br/>
            <a:r>
              <a:t>• Explore improved optimization methods.</a:t>
            </a:r>
            <a:br/>
            <a:r>
              <a:t>• Extend to multiple drones and schedules.</a:t>
            </a:r>
          </a:p>
        </p:txBody>
      </p:sp>
    </p:spTree>
    <p:extLst>
      <p:ext uri="{BB962C8B-B14F-4D97-AF65-F5344CB8AC3E}">
        <p14:creationId xmlns:p14="http://schemas.microsoft.com/office/powerpoint/2010/main" val="1808569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FB24A-028B-46A0-8F57-6D6BDBB0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SDG 9 Connection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1233501-2342-4448-AA69-0DCAA053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C1CE86-AF34-4E42-815D-49F96E18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Industry, Innovation and Infrastructure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804C09-AF0A-4448-9062-F4CEA64E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A21F13-350A-44EA-BD54-1948A2B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10332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This project explores how algorithms can support more efficient delivery planning.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03B8A57-4BC6-4657-BD81-4A9F701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6080"/>
            <a:ext cx="333756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6DCB32-AD2D-4231-90A1-E37C3515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632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INNOVATION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1CEB905-8C76-41F6-ACF4-7EDD24AF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297180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Applies ADS concepts to a routing problem.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B78339-0759-4C97-8B1A-14C4983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26080"/>
            <a:ext cx="333756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B634721-6ACC-4B95-8E57-1661D1C0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632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t>EFFICIENCY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11B7ABA-63B0-4289-9D1D-A2F9448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493008"/>
            <a:ext cx="297180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Compares route choices and estimates energy.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7F78804-6655-49CE-82C2-0E2B612D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26080"/>
            <a:ext cx="3337560" cy="1645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A0E411-F75D-4158-BBF2-D1F0C803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3240"/>
            <a:ext cx="2971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INFRASTRUCTURE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B0F6A4C-766E-431A-9C83-45F95B5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93008"/>
            <a:ext cx="297180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Demonstrates a modular web-based planning tool.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DF18F19-15AD-463F-9C57-6C3DBFC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15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This is an educational prototype and does not certify real-world flight safety.</a:t>
            </a:r>
          </a:p>
        </p:txBody>
      </p:sp>
    </p:spTree>
    <p:extLst>
      <p:ext uri="{BB962C8B-B14F-4D97-AF65-F5344CB8AC3E}">
        <p14:creationId xmlns:p14="http://schemas.microsoft.com/office/powerpoint/2010/main" val="8011109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5B08870-C064-4DFE-A0C0-4D855C20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Project Links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5572B1-BB41-4BC2-A8D2-78E404A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60704"/>
            <a:ext cx="10058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5F9E02-C93C-4FCD-B5A1-707F234A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0700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3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Live application and source code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02918C-9D3C-4033-AD69-F2353874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4652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E2288E1-6F3E-42DA-8B1C-594AD60F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5156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FC376F8-DDB0-4DD9-98DE-9FE629F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5960"/>
            <a:ext cx="1014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LIVE DEMO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CC9CB7-EDA1-46DB-B077-51369F7E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1014984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https://delivery-drone-flight-planner.onrender.com/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FAF373F-0F61-40BD-AADD-24390B92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1051560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DB7AE2-9E71-4821-927F-4FF1439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94760"/>
            <a:ext cx="1014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GITHUB REPOSITORY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BD4510-1AFF-42AA-9B33-EBAAB10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24528"/>
            <a:ext cx="1014984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6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https://github.com/25A31A05IK/Delivery-Drone-Flight-Planner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1A04EC8-24D3-4D6F-A9FE-0CCCFFF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150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rIns="36576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t>Thank you • Questions?</a:t>
            </a:r>
          </a:p>
        </p:txBody>
      </p:sp>
    </p:spTree>
    <p:extLst>
      <p:ext uri="{BB962C8B-B14F-4D97-AF65-F5344CB8AC3E}">
        <p14:creationId xmlns:p14="http://schemas.microsoft.com/office/powerpoint/2010/main" val="82666915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2026-10-29T12:42:40.3770000Z</dcterms:created>
  <dcterms:modified xsi:type="dcterms:W3CDTF">2026-10-29T12:42:40.3770000Z</dcterms:modified>
</coreProperties>
</file>